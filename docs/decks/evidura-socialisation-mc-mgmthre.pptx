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1051560"/>
            <a:ext cx="822960" cy="12344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77462"/>
            <a:ext cx="576072" cy="123444"/>
          </a:xfrm>
          <a:prstGeom prst="roundRect">
            <a:avLst>
              <a:gd name="adj" fmla="val 50000"/>
            </a:avLst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03365"/>
            <a:ext cx="822960" cy="123444"/>
          </a:xfrm>
          <a:prstGeom prst="roundRect">
            <a:avLst>
              <a:gd name="adj" fmla="val 50000"/>
            </a:avLst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1207008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4F2EC"/>
                </a:solidFill>
                <a:latin typeface="Inter"/>
              </a:rPr>
              <a:t>EVIDURA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7556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9A23B"/>
                </a:solidFill>
                <a:latin typeface="Inter"/>
              </a:rPr>
              <a:t>SOCIALISATION SESSION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97480"/>
            <a:ext cx="2011680" cy="50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92656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4F2EC"/>
                </a:solidFill>
                <a:latin typeface="Inter"/>
              </a:rPr>
              <a:t>Master of Management (Human Resources)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17720"/>
            <a:ext cx="8442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8FA3B8"/>
                </a:solidFill>
                <a:latin typeface="Inter"/>
              </a:rPr>
              <a:t>Durability assessment against the 2026 handbook — and the session in which you correct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FA3B8"/>
                </a:solidFill>
                <a:latin typeface="Inter"/>
              </a:rPr>
              <a:t>Panel C v4.1 (draft)   ·   Assessed 2026-08-14   ·   MC-MGMTHRE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2615" y="114300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1B3554"/>
          </a:solidFill>
          <a:ln w="12700">
            <a:solidFill>
              <a:srgbClr val="E9A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9A23B"/>
                </a:solidFill>
                <a:latin typeface="Inter"/>
              </a:rPr>
              <a:t>DRAFT INSTRUMENT · SINGLE RATER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6144768"/>
            <a:ext cx="230428" cy="3456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6208020"/>
            <a:ext cx="161300" cy="34564"/>
          </a:xfrm>
          <a:prstGeom prst="roundRect">
            <a:avLst>
              <a:gd name="adj" fmla="val 50000"/>
            </a:avLst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6271273"/>
            <a:ext cx="230428" cy="34564"/>
          </a:xfrm>
          <a:prstGeom prst="roundRect">
            <a:avLst>
              <a:gd name="adj" fmla="val 50000"/>
            </a:avLst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6172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FA3B8"/>
                </a:solidFill>
                <a:latin typeface="Inter"/>
              </a:rPr>
              <a:t>EVIDURA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6172200"/>
            <a:ext cx="8625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A3B8"/>
                </a:solidFill>
                <a:latin typeface="Inter"/>
              </a:rPr>
              <a:t>MC-MGMTHRE · durability assessment · confidential 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65815" y="6172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A3B8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A23B"/>
                </a:solidFill>
                <a:latin typeface="Inter"/>
              </a:rPr>
              <a:t>WHY YOU ARE IN THIS 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74519"/>
            <a:ext cx="13716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9539935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500" b="0" i="0">
                <a:solidFill>
                  <a:srgbClr val="F4F2EC"/>
                </a:solidFill>
                <a:latin typeface="Inter"/>
              </a:rPr>
              <a:t>We scored this program using only what the handbook documents, with one rater, on a draft instrument. We have already corrected this report twice. I am not here to defend the numbers — I am here to find out which of them are wrong, what evidence we could not see, and where the instrument itself measures the wrong 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9496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8FA3B8"/>
                </a:solidFill>
                <a:latin typeface="Inter"/>
              </a:rPr>
              <a:t>If you leave without having changed something, we have run this badly.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6144768"/>
            <a:ext cx="230428" cy="3456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6208020"/>
            <a:ext cx="161300" cy="34564"/>
          </a:xfrm>
          <a:prstGeom prst="roundRect">
            <a:avLst>
              <a:gd name="adj" fmla="val 50000"/>
            </a:avLst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6271273"/>
            <a:ext cx="230428" cy="34564"/>
          </a:xfrm>
          <a:prstGeom prst="roundRect">
            <a:avLst>
              <a:gd name="adj" fmla="val 50000"/>
            </a:avLst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6172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FA3B8"/>
                </a:solidFill>
                <a:latin typeface="Inter"/>
              </a:rPr>
              <a:t>EVIDURA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6172200"/>
            <a:ext cx="8625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A3B8"/>
                </a:solidFill>
                <a:latin typeface="Inter"/>
              </a:rPr>
              <a:t>MC-MGMTHRE · durability assessment · confidential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65815" y="6172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A3B8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F2236"/>
                </a:solidFill>
                <a:latin typeface="Inter"/>
              </a:rPr>
              <a:t>What Evidura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C7088"/>
                </a:solidFill>
                <a:latin typeface="Inter"/>
              </a:rPr>
              <a:t>Evidura is the platform · the Durability Rating is the signal · DFVA is the method underneath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3716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5090007" cy="3657600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5090007" cy="50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395728"/>
            <a:ext cx="45047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2236"/>
                </a:solidFill>
                <a:latin typeface="Inter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944368"/>
            <a:ext cx="4504791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2236"/>
                </a:solidFill>
                <a:latin typeface="Inter"/>
              </a:rPr>
              <a:t>—  An assessment of what a curriculum documents that it teaches and assesses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2236"/>
                </a:solidFill>
                <a:latin typeface="Inter"/>
              </a:rPr>
              <a:t>—  Two independent coordinates: where graduates go, and what the curriculum builds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2236"/>
                </a:solidFill>
                <a:latin typeface="Inter"/>
              </a:rPr>
              <a:t>—  Anchored on the TEQSA adaptive capabilities and the HESF learning-outcome clauses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2236"/>
                </a:solidFill>
                <a:latin typeface="Inter"/>
              </a:rPr>
              <a:t>—  Fully quoted — every score cites handbook text verbatim, so any score can be overturned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2103120"/>
            <a:ext cx="5090007" cy="3657600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4447" y="2103120"/>
            <a:ext cx="5090007" cy="50800"/>
          </a:xfrm>
          <a:prstGeom prst="rect">
            <a:avLst/>
          </a:prstGeom>
          <a:solidFill>
            <a:srgbClr val="5C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7055" y="2395728"/>
            <a:ext cx="45047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2236"/>
                </a:solidFill>
                <a:latin typeface="Inter"/>
              </a:rPr>
              <a:t>What it is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7055" y="2944368"/>
            <a:ext cx="4504791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2236"/>
                </a:solidFill>
                <a:latin typeface="Inter"/>
              </a:rPr>
              <a:t>—  Not a ranking — no program is compared with another here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2236"/>
                </a:solidFill>
                <a:latin typeface="Inter"/>
              </a:rPr>
              <a:t>—  Not a compliance instrument — not TEQSA, not AHRI, not an audit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2236"/>
                </a:solidFill>
                <a:latin typeface="Inter"/>
              </a:rPr>
              <a:t>—  Not a judgement of teaching quality — undocumented excellence scores low, and we say so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2236"/>
                </a:solidFill>
                <a:latin typeface="Inter"/>
              </a:rPr>
              <a:t>—  Not a rating you have been given — no position label is reported for this program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6144768"/>
            <a:ext cx="230428" cy="3456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6208020"/>
            <a:ext cx="161300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6271273"/>
            <a:ext cx="230428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6172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C7088"/>
                </a:solidFill>
                <a:latin typeface="Inter"/>
              </a:rPr>
              <a:t>EVIDURA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6172200"/>
            <a:ext cx="8625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MC-MGMTHRE · durability assessment · confidential 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65815" y="6172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F2236"/>
                </a:solidFill>
                <a:latin typeface="Inter"/>
              </a:rPr>
              <a:t>Two coordinates, never one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C7088"/>
                </a:solidFill>
                <a:latin typeface="Inter"/>
              </a:rPr>
              <a:t>A single total would hide which problem you 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3716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201168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102257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2236"/>
                </a:solidFill>
                <a:latin typeface="Inter"/>
              </a:rPr>
              <a:t>Destination AI exposure — 94.14 ·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50592"/>
            <a:ext cx="10225735" cy="661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C7088"/>
                </a:solidFill>
                <a:latin typeface="Inter"/>
              </a:rPr>
              <a:t>Computed from this program's own alumni destination record against a published occupational exposure index. A property of the occupations graduates enter. Nobody in this room controls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368040"/>
            <a:ext cx="201168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58312"/>
            <a:ext cx="102257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2236"/>
                </a:solidFill>
                <a:latin typeface="Inter"/>
              </a:rPr>
              <a:t>Curriculum adaptiveness — 8 / 15 · scored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05784"/>
            <a:ext cx="10225735" cy="661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C7088"/>
                </a:solidFill>
                <a:latin typeface="Inter"/>
              </a:rPr>
              <a:t>C1–C5, the TEQSA adaptive capabilities: distributed cognition, evaluative judgement, AI literacy and governance, transfer, inquiry. Entirely within the program's control.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523232"/>
            <a:ext cx="201168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413504"/>
            <a:ext cx="102257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2236"/>
                </a:solidFill>
                <a:latin typeface="Inter"/>
              </a:rPr>
              <a:t>Workplace practice — 4 / 9 · scored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60976"/>
            <a:ext cx="10225735" cy="661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C7088"/>
                </a:solidFill>
                <a:latin typeface="Inter"/>
              </a:rPr>
              <a:t>W1–W3, added 2026-08-14: professional communication and conduct, authentic task design, work-situated learning. Reported beside adaptiveness and never added to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4243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C7088"/>
                </a:solidFill>
                <a:latin typeface="Inter"/>
              </a:rPr>
              <a:t>A program strong on workplace practice and weak on adaptiveness has a different problem from the reverse.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6144768"/>
            <a:ext cx="230428" cy="3456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6208020"/>
            <a:ext cx="161300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6271273"/>
            <a:ext cx="230428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2728" y="6172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C7088"/>
                </a:solidFill>
                <a:latin typeface="Inter"/>
              </a:rPr>
              <a:t>EVIDURA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6172200"/>
            <a:ext cx="8625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MC-MGMTHRE · durability assessment · confidential 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65815" y="6172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F2236"/>
                </a:solidFill>
                <a:latin typeface="Inter"/>
              </a:rPr>
              <a:t>The four rules that decide arguments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C7088"/>
                </a:solidFill>
                <a:latin typeface="Inter"/>
              </a:rPr>
              <a:t>Most objections to a score are really objections to one of these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3716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201168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102257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2236"/>
                </a:solidFill>
                <a:latin typeface="Inter"/>
              </a:rPr>
              <a:t>R1 — Declarative anchors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50592"/>
            <a:ext cx="10225735" cy="372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C7088"/>
                </a:solidFill>
                <a:latin typeface="Inter"/>
              </a:rPr>
              <a:t>Anchors state what evidence must exist, not how good it is. So two raters reading the same page reach the same score.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079242"/>
            <a:ext cx="201168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969514"/>
            <a:ext cx="102257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2236"/>
                </a:solidFill>
                <a:latin typeface="Inter"/>
              </a:rPr>
              <a:t>R2 — Assessment evidence for level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16986"/>
            <a:ext cx="10225735" cy="372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7088"/>
                </a:solidFill>
                <a:latin typeface="Inter"/>
              </a:rPr>
              <a:t>A stated learning outcome caps an item at level 1. Stated graduate attributes are not evidence of attainment (Barrie 2006).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945636"/>
            <a:ext cx="201168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35908"/>
            <a:ext cx="102257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2236"/>
                </a:solidFill>
                <a:latin typeface="Inter"/>
              </a:rPr>
              <a:t>R3 — Verbatim quotation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183380"/>
            <a:ext cx="10225735" cy="372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C7088"/>
                </a:solidFill>
                <a:latin typeface="Inter"/>
              </a:rPr>
              <a:t>Every score quotes its source, so any score can be checked — and overturned — by anyone in this room.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812030"/>
            <a:ext cx="201168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702302"/>
            <a:ext cx="102257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2236"/>
                </a:solidFill>
                <a:latin typeface="Inter"/>
              </a:rPr>
              <a:t>R4 — Authenticity from task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49774"/>
            <a:ext cx="10225735" cy="372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7088"/>
                </a:solidFill>
                <a:latin typeface="Inter"/>
              </a:rPr>
              <a:t>Scored from what the task requires, never from the word 'authentic'. The label has become a thought-terminating cliché (Fawns et al. 2024).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4243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C7088"/>
                </a:solidFill>
                <a:latin typeface="Inter"/>
              </a:rPr>
              <a:t>And one convention: where evidence straddles two levels, the lower level is awarded and the straddle is recorded. Seven were recorded here.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6144768"/>
            <a:ext cx="230428" cy="3456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6208020"/>
            <a:ext cx="161300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6271273"/>
            <a:ext cx="230428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2728" y="6172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C7088"/>
                </a:solidFill>
                <a:latin typeface="Inter"/>
              </a:rPr>
              <a:t>EVIDURA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6172200"/>
            <a:ext cx="8625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MC-MGMTHRE · durability assessment · confidential draft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65815" y="6172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F2236"/>
                </a:solidFill>
                <a:latin typeface="Inter"/>
              </a:rPr>
              <a:t>How this report was made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C7088"/>
                </a:solidFill>
                <a:latin typeface="Inter"/>
              </a:rPr>
              <a:t>Provenance, in full — including what has not been done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3716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03120"/>
          <a:ext cx="10637213" cy="313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3770"/>
                <a:gridCol w="5937050"/>
                <a:gridCol w="2226393"/>
              </a:tblGrid>
              <a:tr h="33451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4F2EC"/>
                          </a:solidFill>
                          <a:latin typeface="Inter"/>
                        </a:rPr>
                        <a:t>Element</a:t>
                      </a:r>
                    </a:p>
                  </a:txBody>
                  <a:tcPr anchor="ctr" marL="100584" marR="100584" marT="36576" marB="36576"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4F2EC"/>
                          </a:solidFill>
                          <a:latin typeface="Inter"/>
                        </a:rPr>
                        <a:t>What was used</a:t>
                      </a:r>
                    </a:p>
                  </a:txBody>
                  <a:tcPr anchor="ctr" marL="100584" marR="100584" marT="36576" marB="36576"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4F2EC"/>
                          </a:solidFill>
                          <a:latin typeface="Inter"/>
                        </a:rPr>
                        <a:t>Confidence</a:t>
                      </a:r>
                    </a:p>
                  </a:txBody>
                  <a:tcPr anchor="ctr" marL="100584" marR="100584" marT="36576" marB="36576">
                    <a:solidFill>
                      <a:srgbClr val="0F2236"/>
                    </a:solidFill>
                  </a:tcPr>
                </a:tc>
              </a:tr>
              <a:tr h="71094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2236"/>
                          </a:solidFill>
                          <a:latin typeface="Inter"/>
                        </a:rPr>
                        <a:t>Curriculum evidence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2236"/>
                          </a:solidFill>
                          <a:latin typeface="Inter"/>
                        </a:rPr>
                        <a:t>35 handbook pages captured 2026-08-14 on a paced browser queue: course overview, attributes, structure, and the overview + assessment pages of all 11 compulsory subjects and 5 selectives.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2236"/>
                          </a:solidFill>
                          <a:latin typeface="Inter"/>
                        </a:rPr>
                        <a:t>Verbatim-verified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2236"/>
                          </a:solidFill>
                          <a:latin typeface="Inter"/>
                        </a:rPr>
                        <a:t>Destination evidence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2236"/>
                          </a:solidFill>
                          <a:latin typeface="Inter"/>
                        </a:rPr>
                        <a:t>The program's own exact-name JIR/LiveAlumni record — 28 graduates, 15 destination titles, crosswalked to the published Felten exposure index.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2236"/>
                          </a:solidFill>
                          <a:latin typeface="Inter"/>
                        </a:rPr>
                        <a:t>HIGH · small n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2236"/>
                          </a:solidFill>
                          <a:latin typeface="Inter"/>
                        </a:rPr>
                        <a:t>Market signals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2236"/>
                          </a:solidFill>
                          <a:latin typeface="Inter"/>
                        </a:rPr>
                        <a:t>Named regulatory instruments and reported survey data. No job-advertisement platform was sampled.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2236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2236"/>
                          </a:solidFill>
                          <a:latin typeface="Inter"/>
                        </a:rPr>
                        <a:t>Scoring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2236"/>
                          </a:solidFill>
                          <a:latin typeface="Inter"/>
                        </a:rPr>
                        <a:t>One rater on the v4.1 draft anchors, with an adversarial pass over every level-3 score and gate.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2236"/>
                          </a:solidFill>
                          <a:latin typeface="Inter"/>
                        </a:rPr>
                        <a:t>Single rater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2236"/>
                          </a:solidFill>
                          <a:latin typeface="Inter"/>
                        </a:rPr>
                        <a:t>Not done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2236"/>
                          </a:solidFill>
                          <a:latin typeface="Inter"/>
                        </a:rPr>
                        <a:t>No content-validity panel. No inter-rater reliability study. No external review of the W items at all.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2236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367527"/>
            <a:ext cx="10637215" cy="530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C7088"/>
                </a:solidFill>
                <a:latin typeface="Inter"/>
              </a:rPr>
              <a:t>The instrument's own limitations are printed in the report, not discovered in the room.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6144768"/>
            <a:ext cx="230428" cy="3456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6208020"/>
            <a:ext cx="161300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6271273"/>
            <a:ext cx="230428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6172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C7088"/>
                </a:solidFill>
                <a:latin typeface="Inter"/>
              </a:rPr>
              <a:t>EVIDURA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6172200"/>
            <a:ext cx="8625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MC-MGMTHRE · durability assessment · confidential 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172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A23B"/>
                </a:solidFill>
                <a:latin typeface="Inter"/>
              </a:rPr>
              <a:t>TWO CORRECTIONS ALREADY PUBLISHED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74519"/>
            <a:ext cx="13716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9539935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550" b="0" i="0">
                <a:solidFill>
                  <a:srgbClr val="F4F2EC"/>
                </a:solidFill>
                <a:latin typeface="Inter"/>
              </a:rPr>
              <a:t>An earlier version said this program had no alumni record — wrong file checked. And an earlier version was scored on 22 of the 35 pages, because a capture agent used 'failed' to mean 'deprioritised'. We recaptured and re-scored. Two items changed, and both went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9496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8FA3B8"/>
                </a:solidFill>
                <a:latin typeface="Inter"/>
              </a:rPr>
              <a:t>Which matters for today: when you tell us we have missed something, the correction does not reliably go 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6144768"/>
            <a:ext cx="230428" cy="3456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6208020"/>
            <a:ext cx="161300" cy="34564"/>
          </a:xfrm>
          <a:prstGeom prst="roundRect">
            <a:avLst>
              <a:gd name="adj" fmla="val 50000"/>
            </a:avLst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6271273"/>
            <a:ext cx="230428" cy="34564"/>
          </a:xfrm>
          <a:prstGeom prst="roundRect">
            <a:avLst>
              <a:gd name="adj" fmla="val 50000"/>
            </a:avLst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6172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FA3B8"/>
                </a:solidFill>
                <a:latin typeface="Inter"/>
              </a:rPr>
              <a:t>EVIDURA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6172200"/>
            <a:ext cx="8625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A3B8"/>
                </a:solidFill>
                <a:latin typeface="Inter"/>
              </a:rPr>
              <a:t>MC-MGMTHRE · durability assessment · confidential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65815" y="6172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A3B8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F2236"/>
                </a:solidFill>
                <a:latin typeface="Inter"/>
              </a:rPr>
              <a:t>The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C7088"/>
                </a:solidFill>
                <a:latin typeface="Inter"/>
              </a:rPr>
              <a:t>Panel C v4.1 · scored from documented curriculum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3716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267712"/>
            <a:ext cx="26883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A3B8"/>
                </a:solidFill>
                <a:latin typeface="Inter"/>
              </a:rPr>
              <a:t>DESTINATION AI 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26883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E9A23B"/>
                </a:solidFill>
                <a:latin typeface="Inter"/>
              </a:rPr>
              <a:t>94.14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312724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A3B8"/>
                </a:solidFill>
                <a:latin typeface="Inter"/>
              </a:rPr>
              <a:t>measured · n = 28 · above portfolio median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21024"/>
            <a:ext cx="3200400" cy="786384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621024"/>
            <a:ext cx="3200400" cy="38100"/>
          </a:xfrm>
          <a:prstGeom prst="rect">
            <a:avLst/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3767328"/>
            <a:ext cx="2688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C7088"/>
                </a:solidFill>
                <a:latin typeface="Inter"/>
              </a:rPr>
              <a:t>Adaptive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005072"/>
            <a:ext cx="268833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2236"/>
                </a:solidFill>
                <a:latin typeface="Inter"/>
              </a:rPr>
              <a:t>8 /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35424"/>
            <a:ext cx="3200400" cy="786384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535424"/>
            <a:ext cx="3200400" cy="38100"/>
          </a:xfrm>
          <a:prstGeom prst="rect">
            <a:avLst/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4681728"/>
            <a:ext cx="2688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C7088"/>
                </a:solidFill>
                <a:latin typeface="Inter"/>
              </a:rPr>
              <a:t>Workplace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919472"/>
            <a:ext cx="268833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2236"/>
                </a:solidFill>
                <a:latin typeface="Inter"/>
              </a:rPr>
              <a:t>4 / 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449824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7E3D8"/>
          </a:solidFill>
          <a:ln w="12700">
            <a:solidFill>
              <a:srgbClr val="1F9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9D6B"/>
                </a:solidFill>
                <a:latin typeface="Inter"/>
              </a:rPr>
              <a:t>G1  PASS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5449824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7E3D8"/>
          </a:solidFill>
          <a:ln w="12700">
            <a:solidFill>
              <a:srgbClr val="1F9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9D6B"/>
                </a:solidFill>
                <a:latin typeface="Inter"/>
              </a:rPr>
              <a:t>G2  PASS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2103120"/>
            <a:ext cx="3329787" cy="710946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2103120"/>
            <a:ext cx="82296" cy="6985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18304" y="21945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A23B"/>
                </a:solidFill>
                <a:latin typeface="Inter"/>
              </a:rPr>
              <a:t>C1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2194560"/>
            <a:ext cx="1638147" cy="5280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2236"/>
                </a:solidFill>
                <a:latin typeface="Inter"/>
              </a:rPr>
              <a:t>Distributed cognition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1667" y="2194560"/>
            <a:ext cx="658368" cy="5280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i="0">
                <a:solidFill>
                  <a:srgbClr val="E9A23B"/>
                </a:solidFill>
                <a:latin typeface="Inter"/>
              </a:rPr>
              <a:t>2/3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4667" y="2103120"/>
            <a:ext cx="3329787" cy="710946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4667" y="2103120"/>
            <a:ext cx="82296" cy="6985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2411" y="21945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A23B"/>
                </a:solidFill>
                <a:latin typeface="Inter"/>
              </a:rPr>
              <a:t>W1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7899" y="2194560"/>
            <a:ext cx="1638147" cy="5280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2236"/>
                </a:solidFill>
                <a:latin typeface="Inter"/>
              </a:rPr>
              <a:t>Professional communication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45774" y="2194560"/>
            <a:ext cx="658368" cy="5280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i="0">
                <a:solidFill>
                  <a:srgbClr val="E9A23B"/>
                </a:solidFill>
                <a:latin typeface="Inter"/>
              </a:rPr>
              <a:t>2/3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2978658"/>
            <a:ext cx="3329787" cy="710946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80560" y="2978658"/>
            <a:ext cx="82296" cy="6985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8304" y="307009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A23B"/>
                </a:solidFill>
                <a:latin typeface="Inter"/>
              </a:rPr>
              <a:t>C2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93792" y="3070098"/>
            <a:ext cx="1638147" cy="5280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2236"/>
                </a:solidFill>
                <a:latin typeface="Inter"/>
              </a:rPr>
              <a:t>Hybrid metacognition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1667" y="3070098"/>
            <a:ext cx="658368" cy="5280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i="0">
                <a:solidFill>
                  <a:srgbClr val="E9A23B"/>
                </a:solidFill>
                <a:latin typeface="Inter"/>
              </a:rPr>
              <a:t>2/3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4667" y="2978658"/>
            <a:ext cx="3329787" cy="710946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84667" y="2978658"/>
            <a:ext cx="82296" cy="698500"/>
          </a:xfrm>
          <a:prstGeom prst="rect">
            <a:avLst/>
          </a:prstGeom>
          <a:solidFill>
            <a:srgbClr val="C7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2411" y="307009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7433A"/>
                </a:solidFill>
                <a:latin typeface="Inter"/>
              </a:rPr>
              <a:t>W2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7899" y="3070098"/>
            <a:ext cx="1638147" cy="5280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2236"/>
                </a:solidFill>
                <a:latin typeface="Inter"/>
              </a:rPr>
              <a:t>Authentic task 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45774" y="3070098"/>
            <a:ext cx="658368" cy="5280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i="0">
                <a:solidFill>
                  <a:srgbClr val="C7433A"/>
                </a:solidFill>
                <a:latin typeface="Inter"/>
              </a:rPr>
              <a:t>1/3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80560" y="3854196"/>
            <a:ext cx="3329787" cy="710946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80560" y="3854196"/>
            <a:ext cx="82296" cy="698500"/>
          </a:xfrm>
          <a:prstGeom prst="rect">
            <a:avLst/>
          </a:prstGeom>
          <a:solidFill>
            <a:srgbClr val="C7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394563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7433A"/>
                </a:solidFill>
                <a:latin typeface="Inter"/>
              </a:rPr>
              <a:t>C3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93792" y="3945636"/>
            <a:ext cx="1638147" cy="5280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2236"/>
                </a:solidFill>
                <a:latin typeface="Inter"/>
              </a:rPr>
              <a:t>Digital &amp; AI literacy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1667" y="3945636"/>
            <a:ext cx="658368" cy="5280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i="0">
                <a:solidFill>
                  <a:srgbClr val="C7433A"/>
                </a:solidFill>
                <a:latin typeface="Inter"/>
              </a:rPr>
              <a:t>1/3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84667" y="3854196"/>
            <a:ext cx="3329787" cy="710946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84667" y="3854196"/>
            <a:ext cx="82296" cy="698500"/>
          </a:xfrm>
          <a:prstGeom prst="rect">
            <a:avLst/>
          </a:prstGeom>
          <a:solidFill>
            <a:srgbClr val="C7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2411" y="394563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7433A"/>
                </a:solidFill>
                <a:latin typeface="Inter"/>
              </a:rPr>
              <a:t>W3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97899" y="3945636"/>
            <a:ext cx="1638147" cy="5280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2236"/>
                </a:solidFill>
                <a:latin typeface="Inter"/>
              </a:rPr>
              <a:t>Work-situated learning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45774" y="3945636"/>
            <a:ext cx="658368" cy="5280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i="0">
                <a:solidFill>
                  <a:srgbClr val="C7433A"/>
                </a:solidFill>
                <a:latin typeface="Inter"/>
              </a:rPr>
              <a:t>1/3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80560" y="4729734"/>
            <a:ext cx="3329787" cy="710946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80560" y="4729734"/>
            <a:ext cx="82296" cy="6985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18304" y="482117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A23B"/>
                </a:solidFill>
                <a:latin typeface="Inter"/>
              </a:rPr>
              <a:t>C4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93792" y="4821174"/>
            <a:ext cx="1638147" cy="5280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2236"/>
                </a:solidFill>
                <a:latin typeface="Inter"/>
              </a:rPr>
              <a:t>Life-long learning &amp; transfer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1667" y="4821174"/>
            <a:ext cx="658368" cy="5280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i="0">
                <a:solidFill>
                  <a:srgbClr val="E9A23B"/>
                </a:solidFill>
                <a:latin typeface="Inter"/>
              </a:rPr>
              <a:t>2/3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84667" y="4729734"/>
            <a:ext cx="3329787" cy="710946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84667" y="4729734"/>
            <a:ext cx="82296" cy="698500"/>
          </a:xfrm>
          <a:prstGeom prst="rect">
            <a:avLst/>
          </a:prstGeom>
          <a:solidFill>
            <a:srgbClr val="C7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2411" y="482117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7433A"/>
                </a:solidFill>
                <a:latin typeface="Inter"/>
              </a:rPr>
              <a:t>C5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97899" y="4821174"/>
            <a:ext cx="1638147" cy="5280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2236"/>
                </a:solidFill>
                <a:latin typeface="Inter"/>
              </a:rPr>
              <a:t>Inquiry &amp; evidence generation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45774" y="4821174"/>
            <a:ext cx="658368" cy="5280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i="0">
                <a:solidFill>
                  <a:srgbClr val="C7433A"/>
                </a:solidFill>
                <a:latin typeface="Inter"/>
              </a:rPr>
              <a:t>1/3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0560" y="5440680"/>
            <a:ext cx="6933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C7088"/>
                </a:solidFill>
                <a:latin typeface="Inter"/>
              </a:rPr>
              <a:t>Reported side by side. Never added. No position label until v4 medians exist.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C7088"/>
                </a:solidFill>
                <a:latin typeface="Inter"/>
              </a:rPr>
              <a:t>G1 passes on the accredited compulsory sequence — 137.5 of 200 credit points, AHRI-accredited and SHRM-aligned.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" y="6144768"/>
            <a:ext cx="230428" cy="3456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77240" y="6208020"/>
            <a:ext cx="161300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77240" y="6271273"/>
            <a:ext cx="230428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52728" y="6172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C7088"/>
                </a:solidFill>
                <a:latin typeface="Inter"/>
              </a:rPr>
              <a:t>EVIDURA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40280" y="6172200"/>
            <a:ext cx="8625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MC-MGMTHRE · durability assessment · confidential draft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65815" y="6172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F2236"/>
                </a:solidFill>
                <a:latin typeface="Inter"/>
              </a:rPr>
              <a:t>Four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3716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82496"/>
            <a:ext cx="10637215" cy="893826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91440" cy="8890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1051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B97E26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953993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2236"/>
                </a:solidFill>
                <a:latin typeface="Inter"/>
              </a:rPr>
              <a:t>The destination set is the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12848"/>
            <a:ext cx="9539935" cy="235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Eleven of fifteen titles sit between 95 and 96. No low-exposure tail. A property of the occupations, not a judgement of the program.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59202"/>
            <a:ext cx="10637215" cy="893826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759202"/>
            <a:ext cx="91440" cy="8890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8721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B97E26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05506"/>
            <a:ext cx="953993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2236"/>
                </a:solidFill>
                <a:latin typeface="Inter"/>
              </a:rPr>
              <a:t>C3 = 1/3 — AI is a stated outcome, assessed nowhere compulsory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89554"/>
            <a:ext cx="9539935" cy="235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C7088"/>
                </a:solidFill>
                <a:latin typeface="Inter"/>
              </a:rPr>
              <a:t>MGMT90267 is an elective. Meanwhile three regulatory instruments put governance of automated employment decisions on HR — one Australian and in force.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35908"/>
            <a:ext cx="10637215" cy="893826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835908"/>
            <a:ext cx="91440" cy="8890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96392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B97E26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82212"/>
            <a:ext cx="953993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2236"/>
                </a:solidFill>
                <a:latin typeface="Inter"/>
              </a:rPr>
              <a:t>C2 and C4 both stop one step short, on the same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366260"/>
            <a:ext cx="9539935" cy="235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C7088"/>
                </a:solidFill>
                <a:latin typeface="Inter"/>
              </a:rPr>
              <a:t>MGMT90140 documents the diagnosis but not the plan. Two items move on one documentation change — if the subject already asks for it. Does it?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912614"/>
            <a:ext cx="10637215" cy="893826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12614"/>
            <a:ext cx="91440" cy="8890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4063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B97E26"/>
                </a:solidFill>
                <a:latin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058918"/>
            <a:ext cx="953993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2236"/>
                </a:solidFill>
                <a:latin typeface="Inter"/>
              </a:rPr>
              <a:t>The workplace provision is real, and optional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442966"/>
            <a:ext cx="9539935" cy="235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BUSA90473 is level-3 material sitting in a selective slot. A student can finish the 200-point program without entering a workplace.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6144768"/>
            <a:ext cx="230428" cy="3456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6208020"/>
            <a:ext cx="161300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6271273"/>
            <a:ext cx="230428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52728" y="6172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C7088"/>
                </a:solidFill>
                <a:latin typeface="Inter"/>
              </a:rPr>
              <a:t>EVIDURA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6172200"/>
            <a:ext cx="8625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MC-MGMTHRE · durability assessment · confidential draft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65815" y="6172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F2236"/>
                </a:solidFill>
                <a:latin typeface="Inter"/>
              </a:rPr>
              <a:t>Where graduates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C7088"/>
                </a:solidFill>
                <a:latin typeface="Inter"/>
              </a:rPr>
              <a:t>Exact-name alumni record, n = 28 · exposure via the published Felten index, rescaled 0–100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3716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03120"/>
          <a:ext cx="10637213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5554"/>
                <a:gridCol w="6745550"/>
                <a:gridCol w="1816109"/>
              </a:tblGrid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4F2EC"/>
                          </a:solidFill>
                          <a:latin typeface="Inter"/>
                        </a:rPr>
                        <a:t>Stage</a:t>
                      </a:r>
                    </a:p>
                  </a:txBody>
                  <a:tcPr anchor="ctr" marL="100584" marR="100584" marT="36576" marB="36576"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4F2EC"/>
                          </a:solidFill>
                          <a:latin typeface="Inter"/>
                        </a:rPr>
                        <a:t>Destination title</a:t>
                      </a:r>
                    </a:p>
                  </a:txBody>
                  <a:tcPr anchor="ctr" marL="100584" marR="100584" marT="36576" marB="36576"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4F2EC"/>
                          </a:solidFill>
                          <a:latin typeface="Inter"/>
                        </a:rPr>
                        <a:t>Exposure</a:t>
                      </a:r>
                    </a:p>
                  </a:txBody>
                  <a:tcPr anchor="ctr" marL="100584" marR="100584" marT="36576" marB="36576">
                    <a:solidFill>
                      <a:srgbClr val="0F2236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2236"/>
                          </a:solidFill>
                          <a:latin typeface="Inter"/>
                        </a:rPr>
                        <a:t>Entry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Human Capital Graduate Consultant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96.01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2236"/>
                          </a:solidFill>
                          <a:latin typeface="Inter"/>
                        </a:rPr>
                        <a:t>Entry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Human Resources Administrator · Assistant · Recruitment Administrator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95.84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2236"/>
                          </a:solidFill>
                          <a:latin typeface="Inter"/>
                        </a:rPr>
                        <a:t>Entry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Volunteer Coordinator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74.69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2236"/>
                          </a:solidFill>
                          <a:latin typeface="Inter"/>
                        </a:rPr>
                        <a:t>Early–mid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HR Advisor · HR Officer · People and Culture Advisor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96.01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2236"/>
                          </a:solidFill>
                          <a:latin typeface="Inter"/>
                        </a:rPr>
                        <a:t>Early–mid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Talent Acquisition Coordinator · Recruitment Consultant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96.01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2236"/>
                          </a:solidFill>
                          <a:latin typeface="Inter"/>
                        </a:rPr>
                        <a:t>Early–mid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Workplace Relations Advisor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95.41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2236"/>
                          </a:solidFill>
                          <a:latin typeface="Inter"/>
                        </a:rPr>
                        <a:t>Mid–senior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Human Resources Manager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95.06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2236"/>
                          </a:solidFill>
                          <a:latin typeface="Inter"/>
                        </a:rPr>
                        <a:t>Mid–senior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Senior HR Business Partner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95.06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/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Program mean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236"/>
                          </a:solidFill>
                          <a:latin typeface="Inter"/>
                        </a:rPr>
                        <a:t>94.14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477256"/>
            <a:ext cx="1063721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C7088"/>
                </a:solidFill>
                <a:latin typeface="Inter"/>
              </a:rPr>
              <a:t>Screening, scheduling, records administration, first-pass matching and policy drafting are the tasks that define these occupations — and the tasks current systems already 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6144768"/>
            <a:ext cx="230428" cy="3456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6208020"/>
            <a:ext cx="161300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6271273"/>
            <a:ext cx="230428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6172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C7088"/>
                </a:solidFill>
                <a:latin typeface="Inter"/>
              </a:rPr>
              <a:t>EVIDURA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6172200"/>
            <a:ext cx="8625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MC-MGMTHRE · durability assessment · confidential 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172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4F2EC"/>
                </a:solidFill>
                <a:latin typeface="Inter"/>
              </a:rPr>
              <a:t>The four things we need from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FA3B8"/>
                </a:solidFill>
                <a:latin typeface="Inter"/>
              </a:rPr>
              <a:t>Nothing is re-scored in the room. Everything you supply is re-scored against the evidence afterwards, and the change is published.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93392"/>
            <a:ext cx="13716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10637215" cy="720090"/>
          </a:xfrm>
          <a:prstGeom prst="roundRect">
            <a:avLst>
              <a:gd name="adj" fmla="val 6000"/>
            </a:avLst>
          </a:prstGeom>
          <a:solidFill>
            <a:srgbClr val="1B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52374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2236"/>
                </a:solidFill>
                <a:latin typeface="Inter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496312"/>
            <a:ext cx="93570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4F2EC"/>
                </a:solidFill>
                <a:latin typeface="Inter"/>
              </a:rPr>
              <a:t>What data is missing?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834640"/>
            <a:ext cx="9357055" cy="244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8BACD"/>
                </a:solidFill>
                <a:latin typeface="Inter"/>
              </a:rPr>
              <a:t>What does the subject guide say that the handbook doesn't?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80410"/>
            <a:ext cx="10637215" cy="720090"/>
          </a:xfrm>
          <a:prstGeom prst="roundRect">
            <a:avLst>
              <a:gd name="adj" fmla="val 6000"/>
            </a:avLst>
          </a:prstGeom>
          <a:solidFill>
            <a:srgbClr val="1B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342671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2236"/>
                </a:solidFill>
                <a:latin typeface="Inter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399282"/>
            <a:ext cx="93570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4F2EC"/>
                </a:solidFill>
                <a:latin typeface="Inter"/>
              </a:rPr>
              <a:t>What is valid?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737610"/>
            <a:ext cx="9357055" cy="244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8BACD"/>
                </a:solidFill>
                <a:latin typeface="Inter"/>
              </a:rPr>
              <a:t>Which single score is most wrong, and what is the evidence?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83380"/>
            <a:ext cx="10637215" cy="720090"/>
          </a:xfrm>
          <a:prstGeom prst="roundRect">
            <a:avLst>
              <a:gd name="adj" fmla="val 6000"/>
            </a:avLst>
          </a:prstGeom>
          <a:solidFill>
            <a:srgbClr val="1B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51560" y="432968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2236"/>
                </a:solidFill>
                <a:latin typeface="Inter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302252"/>
            <a:ext cx="93570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4F2EC"/>
                </a:solidFill>
                <a:latin typeface="Inter"/>
              </a:rPr>
              <a:t>What is not valid?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640580"/>
            <a:ext cx="9357055" cy="244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8BACD"/>
                </a:solidFill>
                <a:latin typeface="Inter"/>
              </a:rPr>
              <a:t>Where is the instrument measuring the wrong thing?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86350"/>
            <a:ext cx="10637215" cy="720090"/>
          </a:xfrm>
          <a:prstGeom prst="roundRect">
            <a:avLst>
              <a:gd name="adj" fmla="val 6000"/>
            </a:avLst>
          </a:prstGeom>
          <a:solidFill>
            <a:srgbClr val="1B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523265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2236"/>
                </a:solidFill>
                <a:latin typeface="Inter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205222"/>
            <a:ext cx="93570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4F2EC"/>
                </a:solidFill>
                <a:latin typeface="Inter"/>
              </a:rPr>
              <a:t>What questions remain?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543550"/>
            <a:ext cx="9357055" cy="244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8BACD"/>
                </a:solidFill>
                <a:latin typeface="Inter"/>
              </a:rPr>
              <a:t>What did we not ask that we should have?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6144768"/>
            <a:ext cx="230428" cy="3456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6208020"/>
            <a:ext cx="161300" cy="34564"/>
          </a:xfrm>
          <a:prstGeom prst="roundRect">
            <a:avLst>
              <a:gd name="adj" fmla="val 50000"/>
            </a:avLst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6271273"/>
            <a:ext cx="230428" cy="34564"/>
          </a:xfrm>
          <a:prstGeom prst="roundRect">
            <a:avLst>
              <a:gd name="adj" fmla="val 50000"/>
            </a:avLst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52728" y="6172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FA3B8"/>
                </a:solidFill>
                <a:latin typeface="Inter"/>
              </a:rPr>
              <a:t>EVIDURA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6172200"/>
            <a:ext cx="8625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A3B8"/>
                </a:solidFill>
                <a:latin typeface="Inter"/>
              </a:rPr>
              <a:t>MC-MGMTHRE · durability assessment · confidential draft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65815" y="6172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A3B8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F2236"/>
                </a:solidFill>
                <a:latin typeface="Inter"/>
              </a:rPr>
              <a:t>What we are asking you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C7088"/>
                </a:solidFill>
                <a:latin typeface="Inter"/>
              </a:rPr>
              <a:t>Pre-filled from the gaps the report already declares — everything below E5 comes from this 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3716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03120"/>
          <a:ext cx="10637214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634"/>
                <a:gridCol w="4386480"/>
                <a:gridCol w="3509184"/>
                <a:gridCol w="1973916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2EC"/>
                          </a:solidFill>
                          <a:latin typeface="Inter"/>
                        </a:rPr>
                        <a:t>#</a:t>
                      </a:r>
                    </a:p>
                  </a:txBody>
                  <a:tcPr anchor="ctr" marL="100584" marR="100584" marT="36576" marB="36576"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2EC"/>
                          </a:solidFill>
                          <a:latin typeface="Inter"/>
                        </a:rPr>
                        <a:t>Evidence requested</a:t>
                      </a:r>
                    </a:p>
                  </a:txBody>
                  <a:tcPr anchor="ctr" marL="100584" marR="100584" marT="36576" marB="36576"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2EC"/>
                          </a:solidFill>
                          <a:latin typeface="Inter"/>
                        </a:rPr>
                        <a:t>Bears on</a:t>
                      </a:r>
                    </a:p>
                  </a:txBody>
                  <a:tcPr anchor="ctr" marL="100584" marR="100584" marT="36576" marB="36576"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2EC"/>
                          </a:solidFill>
                          <a:latin typeface="Inter"/>
                        </a:rPr>
                        <a:t>Owner</a:t>
                      </a:r>
                    </a:p>
                  </a:txBody>
                  <a:tcPr anchor="ctr" marL="100584" marR="100584" marT="36576" marB="36576">
                    <a:solidFill>
                      <a:srgbClr val="0F22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236"/>
                          </a:solidFill>
                          <a:latin typeface="Inter"/>
                        </a:rPr>
                        <a:t>E1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2236"/>
                          </a:solidFill>
                          <a:latin typeface="Inter"/>
                        </a:rPr>
                        <a:t>Subject guide and assessment rubric — MGMT90140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2236"/>
                          </a:solidFill>
                          <a:latin typeface="Inter"/>
                        </a:rPr>
                        <a:t>C2, C4 — worth two points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236"/>
                          </a:solidFill>
                          <a:latin typeface="Inter"/>
                        </a:rPr>
                        <a:t>E2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2236"/>
                          </a:solidFill>
                          <a:latin typeface="Inter"/>
                        </a:rPr>
                        <a:t>Marking criteria for the group consulting report — MGMT90016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2236"/>
                          </a:solidFill>
                          <a:latin typeface="Inter"/>
                        </a:rPr>
                        <a:t>W1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236"/>
                          </a:solidFill>
                          <a:latin typeface="Inter"/>
                        </a:rPr>
                        <a:t>E3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2236"/>
                          </a:solidFill>
                          <a:latin typeface="Inter"/>
                        </a:rPr>
                        <a:t>Capstone task brief and criteria — MGMT90010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2236"/>
                          </a:solidFill>
                          <a:latin typeface="Inter"/>
                        </a:rPr>
                        <a:t>W2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236"/>
                          </a:solidFill>
                          <a:latin typeface="Inter"/>
                        </a:rPr>
                        <a:t>E4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2236"/>
                          </a:solidFill>
                          <a:latin typeface="Inter"/>
                        </a:rPr>
                        <a:t>Assessment specification — MGMT90267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2236"/>
                          </a:solidFill>
                          <a:latin typeface="Inter"/>
                        </a:rPr>
                        <a:t>C3</a:t>
                      </a:r>
                    </a:p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L="100584" marR="100584" marT="36576" marB="36576">
                    <a:solidFill>
                      <a:srgbClr val="E7E3D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236"/>
                          </a:solidFill>
                          <a:latin typeface="Inter"/>
                        </a:rPr>
                        <a:t>E5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2236"/>
                          </a:solidFill>
                          <a:latin typeface="Inter"/>
                        </a:rPr>
                        <a:t>Foundation selectives — ACCT90041, ECON90015, FNCE90065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2236"/>
                          </a:solidFill>
                          <a:latin typeface="Inter"/>
                        </a:rPr>
                        <a:t>Coverage: one of four foundation subjects is undocumented</a:t>
                      </a:r>
                    </a:p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L="100584" marR="100584" marT="36576" marB="36576"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010912"/>
            <a:ext cx="10637215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C7088"/>
                </a:solidFill>
                <a:latin typeface="Inter"/>
              </a:rPr>
              <a:t>Also missing: ENGR90034, QILT field-level figures, and any dated job-advertisement extraction.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6144768"/>
            <a:ext cx="230428" cy="3456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6208020"/>
            <a:ext cx="161300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6271273"/>
            <a:ext cx="230428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6172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C7088"/>
                </a:solidFill>
                <a:latin typeface="Inter"/>
              </a:rPr>
              <a:t>EVIDURA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6172200"/>
            <a:ext cx="8625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MC-MGMTHRE · durability assessment · confidential 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172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F2236"/>
                </a:solidFill>
                <a:latin typeface="Inter"/>
              </a:rPr>
              <a:t>What happens to what you say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3716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82496"/>
            <a:ext cx="10637215" cy="795528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810512"/>
            <a:ext cx="310896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236"/>
                </a:solidFill>
                <a:latin typeface="Inter"/>
              </a:rPr>
              <a:t>Evidence you supply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810512"/>
            <a:ext cx="6705295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7088"/>
                </a:solidFill>
                <a:latin typeface="Inter"/>
              </a:rPr>
              <a:t>Re-captured where needed and re-scored against the new evidence. Republished with a dated correction note naming what changed — the same treatment the two existing corrections got.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42616"/>
            <a:ext cx="10637215" cy="795528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770632"/>
            <a:ext cx="310896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236"/>
                </a:solidFill>
                <a:latin typeface="Inter"/>
              </a:rPr>
              <a:t>Factual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770632"/>
            <a:ext cx="6705295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C7088"/>
                </a:solidFill>
                <a:latin typeface="Inter"/>
              </a:rPr>
              <a:t>Corrected immediately.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02736"/>
            <a:ext cx="10637215" cy="795528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730752"/>
            <a:ext cx="310896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236"/>
                </a:solidFill>
                <a:latin typeface="Inter"/>
              </a:rPr>
              <a:t>Disagreement about a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730752"/>
            <a:ext cx="6705295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7088"/>
                </a:solidFill>
                <a:latin typeface="Inter"/>
              </a:rPr>
              <a:t>Recorded as a rater-disagreement case for the inter-rater reliability study. Disagreement about whether a line satisfies an anchor is a finding there, not noise.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62856"/>
            <a:ext cx="10637215" cy="795528"/>
          </a:xfrm>
          <a:prstGeom prst="roundRect">
            <a:avLst>
              <a:gd name="adj" fmla="val 6000"/>
            </a:avLst>
          </a:prstGeom>
          <a:solidFill>
            <a:srgbClr val="E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690872"/>
            <a:ext cx="310896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236"/>
                </a:solidFill>
                <a:latin typeface="Inter"/>
              </a:rPr>
              <a:t>Challenges to the instrument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690872"/>
            <a:ext cx="6705295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C7088"/>
                </a:solidFill>
                <a:latin typeface="Inter"/>
              </a:rPr>
              <a:t>Routed to the Panel C decision log and the content-validity panel that has not yet run.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5099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2236"/>
                </a:solidFill>
                <a:latin typeface="Inter"/>
              </a:rPr>
              <a:t>Every disputed item is either re-scored against supplied evidence or answered in writing with the reason it stands. Nothing is left as 'noted'.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6144768"/>
            <a:ext cx="230428" cy="34564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6208020"/>
            <a:ext cx="161300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6271273"/>
            <a:ext cx="230428" cy="3456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2728" y="6172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C7088"/>
                </a:solidFill>
                <a:latin typeface="Inter"/>
              </a:rPr>
              <a:t>EVIDURA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6172200"/>
            <a:ext cx="8625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MC-MGMTHRE · durability assessment · confidential draft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65815" y="6172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7088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