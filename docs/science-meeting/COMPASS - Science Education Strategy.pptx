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</p:sldIdLst>
  <p:sldSz cx="12192000" cy="6858000"/>
  <p:notesSz cx="6858000" cy="9144000"/>
  <p:embeddedFontLst>
    <p:embeddedFont>
      <p:font typeface="Fraunces" pitchFamily="2" charset="77"/>
      <p:regular r:id="rId11"/>
      <p:bold r:id="rId12"/>
      <p:italic r:id="rId13"/>
      <p:boldItalic r:id="rId14"/>
    </p:embeddedFont>
    <p:embeddedFont>
      <p:font typeface="Fraunces Light" pitchFamily="2" charset="77"/>
      <p:regular r:id="rId15"/>
      <p:bold r:id="rId16"/>
      <p:italic r:id="rId17"/>
      <p:boldItalic r:id="rId18"/>
    </p:embeddedFont>
    <p:embeddedFont>
      <p:font typeface="Source Sans 3" panose="020B0303030403020204" pitchFamily="34" charset="0"/>
      <p:regular r:id="rId19"/>
      <p:bold r:id="rId20"/>
      <p:italic r:id="rId21"/>
      <p:boldItalic r:id="rId22"/>
    </p:embeddedFont>
    <p:embeddedFont>
      <p:font typeface="Source Sans 3 SemiBold" panose="020B0303030403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0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Mulholland" userId="f2a3cdbb-4ce1-435f-b221-ed120bfc80b6" providerId="ADAL" clId="{9BC65FEA-F22E-556D-BD2F-D34A1C169CCF}"/>
    <pc:docChg chg="delSld modSld">
      <pc:chgData name="David Mulholland" userId="f2a3cdbb-4ce1-435f-b221-ed120bfc80b6" providerId="ADAL" clId="{9BC65FEA-F22E-556D-BD2F-D34A1C169CCF}" dt="2026-06-18T10:44:39.739" v="35" actId="1076"/>
      <pc:docMkLst>
        <pc:docMk/>
      </pc:docMkLst>
      <pc:sldChg chg="modSp mod">
        <pc:chgData name="David Mulholland" userId="f2a3cdbb-4ce1-435f-b221-ed120bfc80b6" providerId="ADAL" clId="{9BC65FEA-F22E-556D-BD2F-D34A1C169CCF}" dt="2026-06-18T10:43:05.511" v="11" actId="20577"/>
        <pc:sldMkLst>
          <pc:docMk/>
          <pc:sldMk cId="0" sldId="257"/>
        </pc:sldMkLst>
        <pc:spChg chg="mod">
          <ac:chgData name="David Mulholland" userId="f2a3cdbb-4ce1-435f-b221-ed120bfc80b6" providerId="ADAL" clId="{9BC65FEA-F22E-556D-BD2F-D34A1C169CCF}" dt="2026-06-18T10:43:05.511" v="11" actId="20577"/>
          <ac:spMkLst>
            <pc:docMk/>
            <pc:sldMk cId="0" sldId="257"/>
            <ac:spMk id="93" creationId="{00000000-0000-0000-0000-000000000000}"/>
          </ac:spMkLst>
        </pc:spChg>
      </pc:sldChg>
      <pc:sldChg chg="modSp mod">
        <pc:chgData name="David Mulholland" userId="f2a3cdbb-4ce1-435f-b221-ed120bfc80b6" providerId="ADAL" clId="{9BC65FEA-F22E-556D-BD2F-D34A1C169CCF}" dt="2026-06-18T10:43:28.065" v="13" actId="20577"/>
        <pc:sldMkLst>
          <pc:docMk/>
          <pc:sldMk cId="0" sldId="259"/>
        </pc:sldMkLst>
        <pc:spChg chg="mod">
          <ac:chgData name="David Mulholland" userId="f2a3cdbb-4ce1-435f-b221-ed120bfc80b6" providerId="ADAL" clId="{9BC65FEA-F22E-556D-BD2F-D34A1C169CCF}" dt="2026-06-18T10:43:28.065" v="13" actId="20577"/>
          <ac:spMkLst>
            <pc:docMk/>
            <pc:sldMk cId="0" sldId="259"/>
            <ac:spMk id="115" creationId="{00000000-0000-0000-0000-000000000000}"/>
          </ac:spMkLst>
        </pc:spChg>
        <pc:spChg chg="mod">
          <ac:chgData name="David Mulholland" userId="f2a3cdbb-4ce1-435f-b221-ed120bfc80b6" providerId="ADAL" clId="{9BC65FEA-F22E-556D-BD2F-D34A1C169CCF}" dt="2026-06-18T10:43:24.524" v="12" actId="1076"/>
          <ac:spMkLst>
            <pc:docMk/>
            <pc:sldMk cId="0" sldId="259"/>
            <ac:spMk id="116" creationId="{00000000-0000-0000-0000-000000000000}"/>
          </ac:spMkLst>
        </pc:spChg>
        <pc:spChg chg="mod">
          <ac:chgData name="David Mulholland" userId="f2a3cdbb-4ce1-435f-b221-ed120bfc80b6" providerId="ADAL" clId="{9BC65FEA-F22E-556D-BD2F-D34A1C169CCF}" dt="2026-06-18T10:43:24.524" v="12" actId="1076"/>
          <ac:spMkLst>
            <pc:docMk/>
            <pc:sldMk cId="0" sldId="259"/>
            <ac:spMk id="117" creationId="{00000000-0000-0000-0000-000000000000}"/>
          </ac:spMkLst>
        </pc:spChg>
        <pc:spChg chg="mod">
          <ac:chgData name="David Mulholland" userId="f2a3cdbb-4ce1-435f-b221-ed120bfc80b6" providerId="ADAL" clId="{9BC65FEA-F22E-556D-BD2F-D34A1C169CCF}" dt="2026-06-18T10:43:24.524" v="12" actId="1076"/>
          <ac:spMkLst>
            <pc:docMk/>
            <pc:sldMk cId="0" sldId="259"/>
            <ac:spMk id="118" creationId="{00000000-0000-0000-0000-000000000000}"/>
          </ac:spMkLst>
        </pc:spChg>
        <pc:spChg chg="mod">
          <ac:chgData name="David Mulholland" userId="f2a3cdbb-4ce1-435f-b221-ed120bfc80b6" providerId="ADAL" clId="{9BC65FEA-F22E-556D-BD2F-D34A1C169CCF}" dt="2026-06-18T10:43:24.524" v="12" actId="1076"/>
          <ac:spMkLst>
            <pc:docMk/>
            <pc:sldMk cId="0" sldId="259"/>
            <ac:spMk id="119" creationId="{00000000-0000-0000-0000-000000000000}"/>
          </ac:spMkLst>
        </pc:spChg>
        <pc:picChg chg="mod">
          <ac:chgData name="David Mulholland" userId="f2a3cdbb-4ce1-435f-b221-ed120bfc80b6" providerId="ADAL" clId="{9BC65FEA-F22E-556D-BD2F-D34A1C169CCF}" dt="2026-06-18T10:43:24.524" v="12" actId="1076"/>
          <ac:picMkLst>
            <pc:docMk/>
            <pc:sldMk cId="0" sldId="259"/>
            <ac:picMk id="120" creationId="{00000000-0000-0000-0000-000000000000}"/>
          </ac:picMkLst>
        </pc:picChg>
        <pc:picChg chg="mod">
          <ac:chgData name="David Mulholland" userId="f2a3cdbb-4ce1-435f-b221-ed120bfc80b6" providerId="ADAL" clId="{9BC65FEA-F22E-556D-BD2F-D34A1C169CCF}" dt="2026-06-18T10:43:24.524" v="12" actId="1076"/>
          <ac:picMkLst>
            <pc:docMk/>
            <pc:sldMk cId="0" sldId="259"/>
            <ac:picMk id="121" creationId="{00000000-0000-0000-0000-000000000000}"/>
          </ac:picMkLst>
        </pc:picChg>
        <pc:picChg chg="mod">
          <ac:chgData name="David Mulholland" userId="f2a3cdbb-4ce1-435f-b221-ed120bfc80b6" providerId="ADAL" clId="{9BC65FEA-F22E-556D-BD2F-D34A1C169CCF}" dt="2026-06-18T10:43:24.524" v="12" actId="1076"/>
          <ac:picMkLst>
            <pc:docMk/>
            <pc:sldMk cId="0" sldId="259"/>
            <ac:picMk id="122" creationId="{00000000-0000-0000-0000-000000000000}"/>
          </ac:picMkLst>
        </pc:picChg>
      </pc:sldChg>
      <pc:sldChg chg="modSp mod">
        <pc:chgData name="David Mulholland" userId="f2a3cdbb-4ce1-435f-b221-ed120bfc80b6" providerId="ADAL" clId="{9BC65FEA-F22E-556D-BD2F-D34A1C169CCF}" dt="2026-06-18T10:44:39.739" v="35" actId="1076"/>
        <pc:sldMkLst>
          <pc:docMk/>
          <pc:sldMk cId="0" sldId="262"/>
        </pc:sldMkLst>
        <pc:spChg chg="mod">
          <ac:chgData name="David Mulholland" userId="f2a3cdbb-4ce1-435f-b221-ed120bfc80b6" providerId="ADAL" clId="{9BC65FEA-F22E-556D-BD2F-D34A1C169CCF}" dt="2026-06-18T10:44:12.001" v="16" actId="20577"/>
          <ac:spMkLst>
            <pc:docMk/>
            <pc:sldMk cId="0" sldId="262"/>
            <ac:spMk id="164" creationId="{00000000-0000-0000-0000-000000000000}"/>
          </ac:spMkLst>
        </pc:spChg>
        <pc:spChg chg="mod">
          <ac:chgData name="David Mulholland" userId="f2a3cdbb-4ce1-435f-b221-ed120bfc80b6" providerId="ADAL" clId="{9BC65FEA-F22E-556D-BD2F-D34A1C169CCF}" dt="2026-06-18T10:44:14.382" v="17" actId="20577"/>
          <ac:spMkLst>
            <pc:docMk/>
            <pc:sldMk cId="0" sldId="262"/>
            <ac:spMk id="165" creationId="{00000000-0000-0000-0000-000000000000}"/>
          </ac:spMkLst>
        </pc:spChg>
        <pc:spChg chg="mod">
          <ac:chgData name="David Mulholland" userId="f2a3cdbb-4ce1-435f-b221-ed120bfc80b6" providerId="ADAL" clId="{9BC65FEA-F22E-556D-BD2F-D34A1C169CCF}" dt="2026-06-18T10:44:35.968" v="34" actId="1076"/>
          <ac:spMkLst>
            <pc:docMk/>
            <pc:sldMk cId="0" sldId="262"/>
            <ac:spMk id="166" creationId="{00000000-0000-0000-0000-000000000000}"/>
          </ac:spMkLst>
        </pc:spChg>
        <pc:picChg chg="mod">
          <ac:chgData name="David Mulholland" userId="f2a3cdbb-4ce1-435f-b221-ed120bfc80b6" providerId="ADAL" clId="{9BC65FEA-F22E-556D-BD2F-D34A1C169CCF}" dt="2026-06-18T10:44:39.739" v="35" actId="1076"/>
          <ac:picMkLst>
            <pc:docMk/>
            <pc:sldMk cId="0" sldId="262"/>
            <ac:picMk id="169" creationId="{00000000-0000-0000-0000-000000000000}"/>
          </ac:picMkLst>
        </pc:picChg>
      </pc:sldChg>
      <pc:sldChg chg="del">
        <pc:chgData name="David Mulholland" userId="f2a3cdbb-4ce1-435f-b221-ed120bfc80b6" providerId="ADAL" clId="{9BC65FEA-F22E-556D-BD2F-D34A1C169CCF}" dt="2026-06-18T10:43:55.349" v="14" actId="2696"/>
        <pc:sldMkLst>
          <pc:docMk/>
          <pc:sldMk cId="0" sldId="263"/>
        </pc:sldMkLst>
      </pc:sldChg>
      <pc:sldChg chg="del">
        <pc:chgData name="David Mulholland" userId="f2a3cdbb-4ce1-435f-b221-ed120bfc80b6" providerId="ADAL" clId="{9BC65FEA-F22E-556D-BD2F-D34A1C169CCF}" dt="2026-06-18T10:44:01.714" v="15" actId="2696"/>
        <pc:sldMkLst>
          <pc:docMk/>
          <pc:sldMk cId="0" sldId="264"/>
        </pc:sldMkLst>
      </pc:sldChg>
      <pc:sldChg chg="del">
        <pc:chgData name="David Mulholland" userId="f2a3cdbb-4ce1-435f-b221-ed120bfc80b6" providerId="ADAL" clId="{9BC65FEA-F22E-556D-BD2F-D34A1C169CCF}" dt="2026-06-18T10:42:37.291" v="8" actId="2696"/>
        <pc:sldMkLst>
          <pc:docMk/>
          <pc:sldMk cId="0" sldId="265"/>
        </pc:sldMkLst>
      </pc:sldChg>
      <pc:sldChg chg="modSp mod">
        <pc:chgData name="David Mulholland" userId="f2a3cdbb-4ce1-435f-b221-ed120bfc80b6" providerId="ADAL" clId="{9BC65FEA-F22E-556D-BD2F-D34A1C169CCF}" dt="2026-06-18T10:42:49.029" v="10" actId="20577"/>
        <pc:sldMkLst>
          <pc:docMk/>
          <pc:sldMk cId="0" sldId="266"/>
        </pc:sldMkLst>
        <pc:spChg chg="mod">
          <ac:chgData name="David Mulholland" userId="f2a3cdbb-4ce1-435f-b221-ed120bfc80b6" providerId="ADAL" clId="{9BC65FEA-F22E-556D-BD2F-D34A1C169CCF}" dt="2026-06-18T10:42:49.029" v="10" actId="20577"/>
          <ac:spMkLst>
            <pc:docMk/>
            <pc:sldMk cId="0" sldId="266"/>
            <ac:spMk id="2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F4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62550" y="2295525"/>
            <a:ext cx="18669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205638" y="2886075"/>
            <a:ext cx="5780722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FF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COMPASS </a:t>
            </a:r>
            <a:r>
              <a:rPr lang="en-US" sz="5400" b="0" i="0" u="none" strike="noStrike" cap="none">
                <a:solidFill>
                  <a:srgbClr val="46C8F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AI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619750" y="3868935"/>
            <a:ext cx="952500" cy="38100"/>
          </a:xfrm>
          <a:prstGeom prst="rect">
            <a:avLst/>
          </a:prstGeom>
          <a:solidFill>
            <a:srgbClr val="46C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343275" y="4135635"/>
            <a:ext cx="5505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Operationali</a:t>
            </a:r>
            <a:r>
              <a:rPr lang="en-US" sz="13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s</a:t>
            </a:r>
            <a:r>
              <a:rPr lang="en-US" sz="135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ing the Science Education Strategy for an AI-Augmented Future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990600" y="554384"/>
            <a:ext cx="1072134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F46"/>
                </a:solidFill>
                <a:latin typeface="Fraunces"/>
                <a:ea typeface="Fraunces"/>
                <a:cs typeface="Fraunces"/>
                <a:sym typeface="Fraunces"/>
              </a:rPr>
              <a:t>The Core Challenge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990600" y="2554634"/>
            <a:ext cx="48768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Universities design degrees for a </a:t>
            </a:r>
            <a:r>
              <a:rPr lang="en-US" sz="1350" b="0" i="0" u="none" strike="noStrike" cap="none" dirty="0" err="1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labour</a:t>
            </a:r>
            <a:r>
              <a:rPr lang="en-US" sz="1350" b="0" i="0" u="none" strike="noStrike" cap="none" dirty="0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 market that existed three to five years ago. Generative AI has made this gap dangerous.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1323975" y="3388965"/>
            <a:ext cx="45434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0F46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The Missing Metric:</a:t>
            </a:r>
            <a:r>
              <a:rPr lang="en-US" sz="1350" b="0" i="0" u="none" strike="noStrike" cap="none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 We lack a fast, repeatable way to prove a degree will retain its economic value in 5 years.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323975" y="4089945"/>
            <a:ext cx="45434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0F46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Slow Review Cycles:</a:t>
            </a:r>
            <a:r>
              <a:rPr lang="en-US" sz="1350" b="0" i="0" u="none" strike="noStrike" cap="none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 Without rigorous labor-market data, curriculum reviews remain slow, anecdotal, and resource-heavy.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323975" y="5065216"/>
            <a:ext cx="45434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0F46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Employer Needs:</a:t>
            </a:r>
            <a:r>
              <a:rPr lang="en-US" sz="1350" b="0" i="0" u="none" strike="noStrike" cap="none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 Employers absorb the cost of graduates who arrive underprepared for AI-augmented workflows.</a:t>
            </a:r>
            <a:endParaRPr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343182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4132808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5108078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Universities degrees and AI&#10;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3150" y="130735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/>
          <p:nvPr/>
        </p:nvSpPr>
        <p:spPr>
          <a:xfrm>
            <a:off x="5524500" y="2206972"/>
            <a:ext cx="1143000" cy="57150"/>
          </a:xfrm>
          <a:prstGeom prst="rect">
            <a:avLst/>
          </a:prstGeom>
          <a:solidFill>
            <a:srgbClr val="46C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660570" y="2721322"/>
            <a:ext cx="6870858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000F46"/>
                </a:solidFill>
                <a:latin typeface="Fraunces"/>
                <a:ea typeface="Fraunces"/>
                <a:cs typeface="Fraunces"/>
                <a:sym typeface="Fraunces"/>
              </a:rPr>
              <a:t>Introducing COMPASS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3700462" y="3626197"/>
            <a:ext cx="47910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0F46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C</a:t>
            </a:r>
            <a:r>
              <a:rPr lang="en-US" sz="1350" b="0" i="0" u="none" strike="noStrike" cap="none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urriculum </a:t>
            </a:r>
            <a:r>
              <a:rPr lang="en-US" sz="1350" b="0" i="0" u="none" strike="noStrike" cap="none">
                <a:solidFill>
                  <a:srgbClr val="000F46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O</a:t>
            </a:r>
            <a:r>
              <a:rPr lang="en-US" sz="1350" b="0" i="0" u="none" strike="noStrike" cap="none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utcomes and </a:t>
            </a:r>
            <a:r>
              <a:rPr lang="en-US" sz="1350" b="0" i="0" u="none" strike="noStrike" cap="none">
                <a:solidFill>
                  <a:srgbClr val="000F46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M</a:t>
            </a:r>
            <a:r>
              <a:rPr lang="en-US" sz="1350" b="0" i="0" u="none" strike="noStrike" cap="none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arket </a:t>
            </a:r>
            <a:r>
              <a:rPr lang="en-US" sz="1350" b="0" i="0" u="none" strike="noStrike" cap="none">
                <a:solidFill>
                  <a:srgbClr val="000F46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P</a:t>
            </a:r>
            <a:r>
              <a:rPr lang="en-US" sz="1350" b="0" i="0" u="none" strike="noStrike" cap="none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roof </a:t>
            </a:r>
            <a:r>
              <a:rPr lang="en-US" sz="1350" b="0" i="0" u="none" strike="noStrike" cap="none">
                <a:solidFill>
                  <a:srgbClr val="000F46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A</a:t>
            </a:r>
            <a:r>
              <a:rPr lang="en-US" sz="1350" b="0" i="0" u="none" strike="noStrike" cap="none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lignment </a:t>
            </a:r>
            <a:r>
              <a:rPr lang="en-US" sz="1350" b="0" i="0" u="none" strike="noStrike" cap="none">
                <a:solidFill>
                  <a:srgbClr val="000F46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S</a:t>
            </a:r>
            <a:r>
              <a:rPr lang="en-US" sz="1350" b="0" i="0" u="none" strike="noStrike" cap="none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coring </a:t>
            </a:r>
            <a:r>
              <a:rPr lang="en-US" sz="1350" b="0" i="0" u="none" strike="noStrike" cap="none">
                <a:solidFill>
                  <a:srgbClr val="000F46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S</a:t>
            </a:r>
            <a:r>
              <a:rPr lang="en-US" sz="1350" b="0" i="0" u="none" strike="noStrike" cap="none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ystem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2709862" y="4224337"/>
            <a:ext cx="67722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16161"/>
                </a:solidFill>
                <a:latin typeface="Source Sans 3"/>
                <a:ea typeface="Source Sans 3"/>
                <a:cs typeface="Source Sans 3"/>
                <a:sym typeface="Source Sans 3"/>
              </a:rPr>
              <a:t>A digital assessment tool that measures labor-market durability in an era of rapid automation.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762000"/>
            <a:ext cx="45339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990600" y="1352550"/>
            <a:ext cx="476070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F46"/>
                </a:solidFill>
                <a:latin typeface="Fraunces"/>
                <a:ea typeface="Fraunces"/>
                <a:cs typeface="Fraunces"/>
                <a:sym typeface="Fraunces"/>
              </a:rPr>
              <a:t>Delivering Future-Ready Graduates</a:t>
            </a:r>
            <a:endParaRPr sz="1000" dirty="0"/>
          </a:p>
        </p:txBody>
      </p:sp>
      <p:sp>
        <p:nvSpPr>
          <p:cNvPr id="116" name="Google Shape;116;p16"/>
          <p:cNvSpPr txBox="1"/>
          <p:nvPr/>
        </p:nvSpPr>
        <p:spPr>
          <a:xfrm>
            <a:off x="990600" y="2575963"/>
            <a:ext cx="4533900" cy="12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Faculty's strategy demands graduates who are "career-ready" and can solve complex global problems. Concurrently, the Forethought Market Scan insists on deeper integration of digital and AI skills.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323975" y="4054124"/>
            <a:ext cx="42006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00F46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Data-Driven Future-Readiness:</a:t>
            </a:r>
            <a:r>
              <a:rPr lang="en-US" sz="1350" b="0" i="0" u="none" strike="noStrike" cap="none" dirty="0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 COMPASS evaluates curricula to ensure they map correctly to future-proof skills.</a:t>
            </a:r>
            <a:endParaRPr dirty="0"/>
          </a:p>
        </p:txBody>
      </p:sp>
      <p:sp>
        <p:nvSpPr>
          <p:cNvPr id="118" name="Google Shape;118;p16"/>
          <p:cNvSpPr txBox="1"/>
          <p:nvPr/>
        </p:nvSpPr>
        <p:spPr>
          <a:xfrm>
            <a:off x="1323975" y="5029395"/>
            <a:ext cx="42006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0F46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Leading, Not Lagging:</a:t>
            </a:r>
            <a:r>
              <a:rPr lang="en-US" sz="1350" b="0" i="0" u="none" strike="noStrike" cap="none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 Shifts reliance from historical placement data to leading, real-time hiring signals.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323975" y="5730375"/>
            <a:ext cx="42006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0F46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Assurance of Employability:</a:t>
            </a:r>
            <a:r>
              <a:rPr lang="en-US" sz="1350" b="0" i="0" u="none" strike="noStrike" cap="none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 Complements academic quality assurance with rigorous market relevance.</a:t>
            </a:r>
            <a:endParaRPr/>
          </a:p>
        </p:txBody>
      </p:sp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0600" y="409698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0600" y="507225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0600" y="5773238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University students in a modern science laboratory using advanced technology, professional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6650" y="99060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F46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3045172"/>
            <a:ext cx="3251150" cy="3160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70350" y="3045172"/>
            <a:ext cx="3251150" cy="3160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50100" y="3045172"/>
            <a:ext cx="3251150" cy="316021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990600" y="571500"/>
            <a:ext cx="1072134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The 11 Dimensions of Durability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990600" y="2115591"/>
            <a:ext cx="102108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COMPASS evaluates programs across critical dimensions scored 0–3, separating academic quality from true labor-market durability. Key dimensions include: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1228725" y="4092925"/>
            <a:ext cx="2644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Automation Exposure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1228725" y="4489102"/>
            <a:ext cx="27749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Maps the first 5 years of graduate work directly to current AI automation capabilities to identify displacement risks.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4708475" y="4092925"/>
            <a:ext cx="2644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Systems Thinking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4708475" y="4489102"/>
            <a:ext cx="27749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Differentiates graduates who can design complex solutions and frame problems from those who merely execute templates.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188225" y="4092925"/>
            <a:ext cx="2644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AI Governance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188225" y="4489102"/>
            <a:ext cx="27749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Assesses whether the curriculum instills accountable judgment and decision-making under uncertainty.</a:t>
            </a:r>
            <a:endParaRPr/>
          </a:p>
        </p:txBody>
      </p:sp>
      <p:pic>
        <p:nvPicPr>
          <p:cNvPr id="139" name="Google Shape;13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28725" y="352142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08475" y="352142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88225" y="3521422"/>
            <a:ext cx="3810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2290762"/>
            <a:ext cx="4876800" cy="3739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4600" y="2290762"/>
            <a:ext cx="4876800" cy="373930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990600" y="571500"/>
            <a:ext cx="1072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F46"/>
                </a:solidFill>
                <a:latin typeface="Fraunces"/>
                <a:ea typeface="Fraunces"/>
                <a:cs typeface="Fraunces"/>
                <a:sym typeface="Fraunces"/>
              </a:rPr>
              <a:t>Integrated Capabilities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1228725" y="3338512"/>
            <a:ext cx="44005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F46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Market Intelligence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1228725" y="3734692"/>
            <a:ext cx="44005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Generates a real-time scan of relevant job families, recent hiring signals, and current professional discourse.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1228725" y="4588073"/>
            <a:ext cx="44005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0F46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Value:</a:t>
            </a:r>
            <a:r>
              <a:rPr lang="en-US" sz="1350" b="0" i="0" u="none" strike="noStrike" cap="none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 Anchors the assessment in live labor-market evidence rather than static accreditation frameworks, fulfilling the need for stronger industry integration.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562725" y="3338512"/>
            <a:ext cx="44005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F46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Curriculum Redesign Advisor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562725" y="3734692"/>
            <a:ext cx="44005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Converts assessment scores and market evidence into an actionable, prioritized improvement plan.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562725" y="4588073"/>
            <a:ext cx="44005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0F46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Value:</a:t>
            </a:r>
            <a:r>
              <a:rPr lang="en-US" sz="1350" b="0" i="0" u="none" strike="noStrike" cap="none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 Provides curriculum teams with interventions, owners, timelines, and measurable KPIs, drastically accelerating the review process.</a:t>
            </a:r>
            <a:endParaRPr/>
          </a:p>
        </p:txBody>
      </p:sp>
      <p:pic>
        <p:nvPicPr>
          <p:cNvPr id="155" name="Google Shape;15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62725" y="27670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/>
          <p:cNvPicPr preferRelativeResize="0"/>
          <p:nvPr/>
        </p:nvPicPr>
        <p:blipFill rotWithShape="1">
          <a:blip r:embed="rId5">
            <a:alphaModFix/>
          </a:blip>
          <a:srcRect l="23654" t="21933" r="17754" b="20012"/>
          <a:stretch/>
        </p:blipFill>
        <p:spPr>
          <a:xfrm>
            <a:off x="1228725" y="2805175"/>
            <a:ext cx="322971" cy="3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7281" y="163859"/>
            <a:ext cx="2357437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990600" y="1211609"/>
            <a:ext cx="1072134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F46"/>
                </a:solidFill>
                <a:latin typeface="Fraunces"/>
                <a:ea typeface="Fraunces"/>
                <a:cs typeface="Fraunces"/>
                <a:sym typeface="Fraunces"/>
              </a:rPr>
              <a:t>Supporting "In-Flight" Initiatives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990600" y="2407890"/>
            <a:ext cx="48768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COMPASS acts as a diagnostic engine that can immediately accelerate the Faculty's active projects.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1323975" y="3194595"/>
            <a:ext cx="4543425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00F46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BSc Majors Renewal:</a:t>
            </a:r>
            <a:r>
              <a:rPr lang="en-US" sz="1350" b="0" i="0" u="none" strike="noStrike" cap="none" dirty="0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 Run comparative risk assessments on legacy majors versus newly proposed 2027 structures to quantitatively validate improvements.</a:t>
            </a:r>
            <a:endParaRPr dirty="0"/>
          </a:p>
        </p:txBody>
      </p:sp>
      <p:sp>
        <p:nvSpPr>
          <p:cNvPr id="165" name="Google Shape;165;p19"/>
          <p:cNvSpPr txBox="1"/>
          <p:nvPr/>
        </p:nvSpPr>
        <p:spPr>
          <a:xfrm>
            <a:off x="1323975" y="4169866"/>
            <a:ext cx="45434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00F46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Assurance of Learning:</a:t>
            </a:r>
            <a:r>
              <a:rPr lang="en-US" sz="1350" b="0" i="0" u="none" strike="noStrike" cap="none" dirty="0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 Act as an "Assurance of Employability" layer, proving program-level assessments map to market skills.</a:t>
            </a:r>
            <a:endParaRPr dirty="0"/>
          </a:p>
        </p:txBody>
      </p:sp>
      <p:sp>
        <p:nvSpPr>
          <p:cNvPr id="166" name="Google Shape;166;p19"/>
          <p:cNvSpPr txBox="1"/>
          <p:nvPr/>
        </p:nvSpPr>
        <p:spPr>
          <a:xfrm>
            <a:off x="1323975" y="4855599"/>
            <a:ext cx="45434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00F46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Process Improvement:</a:t>
            </a:r>
            <a:r>
              <a:rPr lang="en-US" sz="1350" b="0" i="0" u="none" strike="noStrike" cap="none" dirty="0">
                <a:solidFill>
                  <a:srgbClr val="2D2D2D"/>
                </a:solidFill>
                <a:latin typeface="Source Sans 3"/>
                <a:ea typeface="Source Sans 3"/>
                <a:cs typeface="Source Sans 3"/>
                <a:sym typeface="Source Sans 3"/>
              </a:rPr>
              <a:t> Plug into revised curriculum change processes as an automated, evidence-gathering first step.</a:t>
            </a:r>
            <a:endParaRPr dirty="0"/>
          </a:p>
        </p:txBody>
      </p:sp>
      <p:pic>
        <p:nvPicPr>
          <p:cNvPr id="167" name="Google Shape;16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0600" y="3237458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0600" y="4212728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0600" y="4905835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F46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/>
          <p:nvPr/>
        </p:nvSpPr>
        <p:spPr>
          <a:xfrm>
            <a:off x="2575560" y="2210692"/>
            <a:ext cx="7040880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Questions &amp; Discussion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3781425" y="3115567"/>
            <a:ext cx="46291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06D80"/>
                </a:solidFill>
                <a:latin typeface="Source Sans 3"/>
                <a:ea typeface="Source Sans 3"/>
                <a:cs typeface="Source Sans 3"/>
                <a:sym typeface="Source Sans 3"/>
              </a:rPr>
              <a:t>How can COMPASS best support your immediate 2026 priorities?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3277200" y="4358750"/>
            <a:ext cx="5637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ABC1A7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rPr>
              <a:t>David Mulholland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462</Words>
  <Application>Microsoft Macintosh PowerPoint</Application>
  <PresentationFormat>Widescreen</PresentationFormat>
  <Paragraphs>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Source Sans 3</vt:lpstr>
      <vt:lpstr>Calibri</vt:lpstr>
      <vt:lpstr>Source Sans 3 SemiBold</vt:lpstr>
      <vt:lpstr>Arial</vt:lpstr>
      <vt:lpstr>Fraunces Light</vt:lpstr>
      <vt:lpstr>Fraunces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Mulholland</cp:lastModifiedBy>
  <cp:revision>1</cp:revision>
  <dcterms:modified xsi:type="dcterms:W3CDTF">2026-06-18T10:44:46Z</dcterms:modified>
</cp:coreProperties>
</file>